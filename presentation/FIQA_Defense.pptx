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6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bf9e8fb392470b" /><Relationship Type="http://schemas.openxmlformats.org/officeDocument/2006/relationships/extended-properties" Target="/docProps/app.xml" Id="R79dd22f0948b4c70" /><Relationship Type="http://schemas.openxmlformats.org/officeDocument/2006/relationships/officeDocument" Target="/ppt/presentation.xml" Id="R0a417d8d22bf48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f4a0994d4544fa"/>
  </p:sldMasterIdLst>
  <p:notesMasterIdLst>
    <p:notesMasterId xmlns:r="http://schemas.openxmlformats.org/officeDocument/2006/relationships" r:id="Rd84e2f6ee7f44a03"/>
  </p:notesMasterIdLst>
  <p:sldIdLst>
    <p:sldId xmlns:r="http://schemas.openxmlformats.org/officeDocument/2006/relationships" id="256" r:id="R1b107e0c3ee34552"/>
    <p:sldId xmlns:r="http://schemas.openxmlformats.org/officeDocument/2006/relationships" id="257" r:id="Ra35be0dd236547e2"/>
    <p:sldId xmlns:r="http://schemas.openxmlformats.org/officeDocument/2006/relationships" id="258" r:id="Rce1b4b1a89e04ca2"/>
    <p:sldId xmlns:r="http://schemas.openxmlformats.org/officeDocument/2006/relationships" id="259" r:id="Rd9b001cb1273480b"/>
    <p:sldId xmlns:r="http://schemas.openxmlformats.org/officeDocument/2006/relationships" id="260" r:id="R9d770f4699354b85"/>
    <p:sldId xmlns:r="http://schemas.openxmlformats.org/officeDocument/2006/relationships" id="261" r:id="R23d02174e084476b"/>
    <p:sldId xmlns:r="http://schemas.openxmlformats.org/officeDocument/2006/relationships" id="262" r:id="R9bc9a0a54cf74d1b"/>
    <p:sldId xmlns:r="http://schemas.openxmlformats.org/officeDocument/2006/relationships" id="263" r:id="R5ae5fb119fec4356"/>
    <p:sldId xmlns:r="http://schemas.openxmlformats.org/officeDocument/2006/relationships" id="264" r:id="Ra29e3992a3ca4c3b"/>
    <p:sldId xmlns:r="http://schemas.openxmlformats.org/officeDocument/2006/relationships" id="265" r:id="R8b9f7d5d9110435d"/>
    <p:sldId xmlns:r="http://schemas.openxmlformats.org/officeDocument/2006/relationships" id="266" r:id="R597c2965628f42f4"/>
    <p:sldId xmlns:r="http://schemas.openxmlformats.org/officeDocument/2006/relationships" id="267" r:id="Rf30dc536f9bd4c20"/>
    <p:sldId xmlns:r="http://schemas.openxmlformats.org/officeDocument/2006/relationships" id="268" r:id="R198a5b93d0f642df"/>
    <p:sldId xmlns:r="http://schemas.openxmlformats.org/officeDocument/2006/relationships" id="269" r:id="R7271a01344dd4ca1"/>
    <p:sldId xmlns:r="http://schemas.openxmlformats.org/officeDocument/2006/relationships" id="270" r:id="R05275b965fd743ba"/>
    <p:sldId xmlns:r="http://schemas.openxmlformats.org/officeDocument/2006/relationships" id="271" r:id="Rf61302c188b143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a3dbda28514fff" /><Relationship Type="http://schemas.openxmlformats.org/officeDocument/2006/relationships/slideMaster" Target="/ppt/slideMasters/slideMaster1.xml" Id="Rddf4a0994d4544fa" /><Relationship Type="http://schemas.openxmlformats.org/officeDocument/2006/relationships/notesMaster" Target="/ppt/notesMasters/notesMaster1.xml" Id="Rd84e2f6ee7f44a03" /><Relationship Type="http://schemas.openxmlformats.org/officeDocument/2006/relationships/presProps" Target="/ppt/presProps.xml" Id="R9a0465faf9014fb8" /><Relationship Type="http://schemas.openxmlformats.org/officeDocument/2006/relationships/tableStyles" Target="/ppt/tableStyles.xml" Id="R486aad04dbb548ca" /><Relationship Type="http://schemas.openxmlformats.org/officeDocument/2006/relationships/slide" Target="/ppt/slides/slide1.xml" Id="R1b107e0c3ee34552" /><Relationship Type="http://schemas.openxmlformats.org/officeDocument/2006/relationships/slide" Target="/ppt/slides/slide2.xml" Id="Ra35be0dd236547e2" /><Relationship Type="http://schemas.openxmlformats.org/officeDocument/2006/relationships/slide" Target="/ppt/slides/slide3.xml" Id="Rce1b4b1a89e04ca2" /><Relationship Type="http://schemas.openxmlformats.org/officeDocument/2006/relationships/slide" Target="/ppt/slides/slide4.xml" Id="Rd9b001cb1273480b" /><Relationship Type="http://schemas.openxmlformats.org/officeDocument/2006/relationships/slide" Target="/ppt/slides/slide5.xml" Id="R9d770f4699354b85" /><Relationship Type="http://schemas.openxmlformats.org/officeDocument/2006/relationships/slide" Target="/ppt/slides/slide6.xml" Id="R23d02174e084476b" /><Relationship Type="http://schemas.openxmlformats.org/officeDocument/2006/relationships/slide" Target="/ppt/slides/slide7.xml" Id="R9bc9a0a54cf74d1b" /><Relationship Type="http://schemas.openxmlformats.org/officeDocument/2006/relationships/slide" Target="/ppt/slides/slide8.xml" Id="R5ae5fb119fec4356" /><Relationship Type="http://schemas.openxmlformats.org/officeDocument/2006/relationships/slide" Target="/ppt/slides/slide9.xml" Id="Ra29e3992a3ca4c3b" /><Relationship Type="http://schemas.openxmlformats.org/officeDocument/2006/relationships/slide" Target="/ppt/slides/slide10.xml" Id="R8b9f7d5d9110435d" /><Relationship Type="http://schemas.openxmlformats.org/officeDocument/2006/relationships/slide" Target="/ppt/slides/slide11.xml" Id="R597c2965628f42f4" /><Relationship Type="http://schemas.openxmlformats.org/officeDocument/2006/relationships/slide" Target="/ppt/slides/slide12.xml" Id="Rf30dc536f9bd4c20" /><Relationship Type="http://schemas.openxmlformats.org/officeDocument/2006/relationships/slide" Target="/ppt/slides/slide13.xml" Id="R198a5b93d0f642df" /><Relationship Type="http://schemas.openxmlformats.org/officeDocument/2006/relationships/slide" Target="/ppt/slides/slide14.xml" Id="R7271a01344dd4ca1" /><Relationship Type="http://schemas.openxmlformats.org/officeDocument/2006/relationships/slide" Target="/ppt/slides/slide15.xml" Id="R05275b965fd743ba" /><Relationship Type="http://schemas.openxmlformats.org/officeDocument/2006/relationships/slide" Target="/ppt/slides/slide16.xml" Id="Rf61302c188b143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5c33b1d253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4f496de7ca4f50" /><Relationship Type="http://schemas.openxmlformats.org/officeDocument/2006/relationships/notesMaster" Target="/ppt/notesMasters/notesMaster1.xml" Id="R142aae728f0443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5c8372c0994fd6" /><Relationship Type="http://schemas.openxmlformats.org/officeDocument/2006/relationships/notesMaster" Target="/ppt/notesMasters/notesMaster1.xml" Id="R86342132cbfb45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9f4a54dd8d4aa8" /><Relationship Type="http://schemas.openxmlformats.org/officeDocument/2006/relationships/notesMaster" Target="/ppt/notesMasters/notesMaster1.xml" Id="Rc0c999eaa5004b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e34a95790e46e7" /><Relationship Type="http://schemas.openxmlformats.org/officeDocument/2006/relationships/notesMaster" Target="/ppt/notesMasters/notesMaster1.xml" Id="Rdceb35fdd14f41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ebcee360554347" /><Relationship Type="http://schemas.openxmlformats.org/officeDocument/2006/relationships/notesMaster" Target="/ppt/notesMasters/notesMaster1.xml" Id="R4ac7fa0e6cf84a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cbcbe2ce6845d7" /><Relationship Type="http://schemas.openxmlformats.org/officeDocument/2006/relationships/notesMaster" Target="/ppt/notesMasters/notesMaster1.xml" Id="R4d2fa41c5e974c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eb45596eba40dd" /><Relationship Type="http://schemas.openxmlformats.org/officeDocument/2006/relationships/notesMaster" Target="/ppt/notesMasters/notesMaster1.xml" Id="R248001956b0d44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748c94c9134bb6" /><Relationship Type="http://schemas.openxmlformats.org/officeDocument/2006/relationships/notesMaster" Target="/ppt/notesMasters/notesMaster1.xml" Id="Ra002b730ef6549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9a364cbf7b45af" /><Relationship Type="http://schemas.openxmlformats.org/officeDocument/2006/relationships/notesMaster" Target="/ppt/notesMasters/notesMaster1.xml" Id="R569cead4e62448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6a026168724207" /><Relationship Type="http://schemas.openxmlformats.org/officeDocument/2006/relationships/notesMaster" Target="/ppt/notesMasters/notesMaster1.xml" Id="R133f417df6a74d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dae673ce584220" /><Relationship Type="http://schemas.openxmlformats.org/officeDocument/2006/relationships/notesMaster" Target="/ppt/notesMasters/notesMaster1.xml" Id="Raa7cd410da6147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3af9671e354a95" /><Relationship Type="http://schemas.openxmlformats.org/officeDocument/2006/relationships/notesMaster" Target="/ppt/notesMasters/notesMaster1.xml" Id="R0b79473324fe45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f1b2bbefdd4008" /><Relationship Type="http://schemas.openxmlformats.org/officeDocument/2006/relationships/notesMaster" Target="/ppt/notesMasters/notesMaster1.xml" Id="R71c4f22f2d4d4e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3a1aad947747c1" /><Relationship Type="http://schemas.openxmlformats.org/officeDocument/2006/relationships/notesMaster" Target="/ppt/notesMasters/notesMaster1.xml" Id="R6aa30eecb31247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79bdc49ffc44d6" /><Relationship Type="http://schemas.openxmlformats.org/officeDocument/2006/relationships/notesMaster" Target="/ppt/notesMasters/notesMaster1.xml" Id="R9944d77d3b7141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f0b2a997c44ecc" /><Relationship Type="http://schemas.openxmlformats.org/officeDocument/2006/relationships/notesMaster" Target="/ppt/notesMasters/notesMaster1.xml" Id="R7e21db56b9ae4d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项目数据和实验来自当前 FIQA 工作目录的 PHASE 0–5 报告。最终官方 val 无公开标签。封面没有宣称官方成绩。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数据来源：赛事网页 https://www.njupt-mics.cn/join/medeng/computer-vision。图中仅报告项目实际记录，不代表官方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数据来源：赛事网页 Track 01；reports/EXPERIMENT_PLAN.md。图中仅报告项目实际记录，不代表官方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数据来源：reports/DATA_AUDIT.md；reports/DATA_CLEANING.md；splits/clean_dataset.csv。图中仅报告项目实际记录，不代表官方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数据来源：reports/SPLIT_PLAN.md；reports/FINAL_MODEL_DECISION.md；reports/GROUP_B_C_COMPARISON.md。图中仅报告项目实际记录，不代表官方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数据来源：src/model.py；configs/final_locked.yaml；reports/final_full_model_profile.txt。图中仅报告项目实际记录，不代表官方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数据来源：src/losses.py；configs/final_locked.yaml；reports/PHASE3_ANALYSIS.md。图中仅报告项目实际记录，不代表官方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数据来源：reports/ablation_phase3.csv；reports/PHASE3_ANALYSIS.md。图中仅报告项目实际记录，不代表官方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数据来源：reports/PHASE4_STABILITY.csv；reports/PHASE4_STABILITY_SUMMARY.csv。图中仅报告项目实际记录，不代表官方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数据来源：reports/GROUP_B_C_COMPARISON.md；reports/groupC_evaluation_receipt.json。图中仅报告项目实际记录，不代表官方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数据来源：reports/ROBUSTNESS.md；reports/robustness_results.csv。图中仅报告项目实际记录，不代表官方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数据来源：reports/final_groupC_predictions.csv；reports/GROUP_B_C_COMPARISON.md。图中仅报告项目实际记录，不代表官方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数据来源：reports/final_full_model_profile.txt；reports/FINAL_TRAINING.md。图中仅报告项目实际记录，不代表官方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数据来源：赛事网页应用背景；reports/FINAL_TRAINING.md。图中仅报告项目实际记录，不代表官方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数据来源：reports/FINAL_MODEL_DECISION.md；reports/FINAL_TRAINING.md；reports/GROUP_B_C_COMPARISON.md。图中仅报告项目实际记录，不代表官方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数据来源：reports/FINAL_TRAINING.md；reports/GROUP_B_C_COMPARISON.md；reports/final_full_model_profile.txt。图中仅报告项目实际记录，不代表官方 val 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3872e386b44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b760bb90c4c4c" /><Relationship Type="http://schemas.openxmlformats.org/officeDocument/2006/relationships/slideLayout" Target="/ppt/slideLayouts/slideLayout1.xml" Id="R8c8a14796db447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8a14796db447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12cdb52374ef9" /><Relationship Type="http://schemas.openxmlformats.org/officeDocument/2006/relationships/notesSlide" Target="/ppt/notesSlides/notesSlide1.xml" Id="Rae10c3fb53c3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4ce4022bf42b8" /><Relationship Type="http://schemas.openxmlformats.org/officeDocument/2006/relationships/notesSlide" Target="/ppt/notesSlides/notesSlide2.xml" Id="R49be6b7b638c46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9ffb0220d45da" /><Relationship Type="http://schemas.openxmlformats.org/officeDocument/2006/relationships/notesSlide" Target="/ppt/notesSlides/notesSlide3.xml" Id="R5ae88aa1b87940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e9ba86f684a27" /><Relationship Type="http://schemas.openxmlformats.org/officeDocument/2006/relationships/chart" Target="/ppt/slides/charts/chart1.xml" Id="Rce7e05b89f774337" /><Relationship Type="http://schemas.openxmlformats.org/officeDocument/2006/relationships/notesSlide" Target="/ppt/notesSlides/notesSlide4.xml" Id="Raa4238ead7ef47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1d33238014bf5" /><Relationship Type="http://schemas.openxmlformats.org/officeDocument/2006/relationships/notesSlide" Target="/ppt/notesSlides/notesSlide5.xml" Id="R16fda1d84e8246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c9e214efa42bc" /><Relationship Type="http://schemas.openxmlformats.org/officeDocument/2006/relationships/notesSlide" Target="/ppt/notesSlides/notesSlide6.xml" Id="R762e2041d3ec48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0b08ffdaa4ca0" /><Relationship Type="http://schemas.openxmlformats.org/officeDocument/2006/relationships/notesSlide" Target="/ppt/notesSlides/notesSlide7.xml" Id="R976f2fbf4fc840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9fceb42d54be8" /><Relationship Type="http://schemas.openxmlformats.org/officeDocument/2006/relationships/chart" Target="/ppt/slides/charts/chart2.xml" Id="R56559d6ac4ff4083" /><Relationship Type="http://schemas.openxmlformats.org/officeDocument/2006/relationships/notesSlide" Target="/ppt/notesSlides/notesSlide8.xml" Id="Raac7f7f552c44c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b23b91fad40d1" /><Relationship Type="http://schemas.openxmlformats.org/officeDocument/2006/relationships/chart" Target="/ppt/slides/charts/chart3.xml" Id="R9e74c86a82314657" /><Relationship Type="http://schemas.openxmlformats.org/officeDocument/2006/relationships/notesSlide" Target="/ppt/notesSlides/notesSlide9.xml" Id="R8ac5e5dd298a49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941218e8d414c" /><Relationship Type="http://schemas.openxmlformats.org/officeDocument/2006/relationships/chart" Target="/ppt/slides/charts/chart4.xml" Id="R4aaf80bd652a4a86" /><Relationship Type="http://schemas.openxmlformats.org/officeDocument/2006/relationships/notesSlide" Target="/ppt/notesSlides/notesSlide10.xml" Id="R06419086722245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6ee103f014966" /><Relationship Type="http://schemas.openxmlformats.org/officeDocument/2006/relationships/chart" Target="/ppt/slides/charts/chart5.xml" Id="R67f03a28bfb848b4" /><Relationship Type="http://schemas.openxmlformats.org/officeDocument/2006/relationships/notesSlide" Target="/ppt/notesSlides/notesSlide11.xml" Id="R72817b9e736749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8da70e1e943ca" /><Relationship Type="http://schemas.openxmlformats.org/officeDocument/2006/relationships/chart" Target="/ppt/slides/charts/chart6.xml" Id="Rcf3c90b7806f41d7" /><Relationship Type="http://schemas.openxmlformats.org/officeDocument/2006/relationships/notesSlide" Target="/ppt/notesSlides/notesSlide12.xml" Id="R0ff63e9621794b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bfb0f25f24d46" /><Relationship Type="http://schemas.openxmlformats.org/officeDocument/2006/relationships/notesSlide" Target="/ppt/notesSlides/notesSlide13.xml" Id="R28bf184a6d264d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58f1cf96e4dc9" /><Relationship Type="http://schemas.openxmlformats.org/officeDocument/2006/relationships/notesSlide" Target="/ppt/notesSlides/notesSlide14.xml" Id="Re0acf9bb98e842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14c0323554129" /><Relationship Type="http://schemas.openxmlformats.org/officeDocument/2006/relationships/notesSlide" Target="/ppt/notesSlides/notesSlide15.xml" Id="R654e6def4e0e48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43d9f6836462a" /><Relationship Type="http://schemas.openxmlformats.org/officeDocument/2006/relationships/notesSlide" Target="/ppt/notesSlides/notesSlide16.xml" Id="Rf0d18ada2fce451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样本数</c:v>
          </c:tx>
          <c:spPr>
            <a:solidFill xmlns:a="http://schemas.openxmlformats.org/drawingml/2006/main">
              <a:srgbClr val="0B8D83"/>
            </a:solidFill>
          </c:spPr>
          <c:cat>
            <c:strRef>
              <c:f>'Chart Data'!$A$2:$A$11</c:f>
              <c:strCache>
                <c:ptCount val="10"/>
                <c:pt idx="0">
                  <c:v>0.0–0.1</c:v>
                </c:pt>
                <c:pt idx="1">
                  <c:v>0.1–0.2</c:v>
                </c:pt>
                <c:pt idx="2">
                  <c:v>0.2–0.3</c:v>
                </c:pt>
                <c:pt idx="3">
                  <c:v>0.3–0.4</c:v>
                </c:pt>
                <c:pt idx="4">
                  <c:v>0.4–0.5</c:v>
                </c:pt>
                <c:pt idx="5">
                  <c:v>0.5–0.6</c:v>
                </c:pt>
                <c:pt idx="6">
                  <c:v>0.6–0.7</c:v>
                </c:pt>
                <c:pt idx="7">
                  <c:v>0.7–0.8</c:v>
                </c:pt>
                <c:pt idx="8">
                  <c:v>0.8–0.9</c:v>
                </c:pt>
                <c:pt idx="9">
                  <c:v>0.9–1.0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111</c:v>
                </c:pt>
                <c:pt idx="1">
                  <c:v>1611</c:v>
                </c:pt>
                <c:pt idx="2">
                  <c:v>6378</c:v>
                </c:pt>
                <c:pt idx="3">
                  <c:v>12358</c:v>
                </c:pt>
                <c:pt idx="4">
                  <c:v>3897</c:v>
                </c:pt>
                <c:pt idx="5">
                  <c:v>965</c:v>
                </c:pt>
                <c:pt idx="6">
                  <c:v>1266</c:v>
                </c:pt>
                <c:pt idx="7">
                  <c:v>920</c:v>
                </c:pt>
                <c:pt idx="8">
                  <c:v>170</c:v>
                </c:pt>
                <c:pt idx="9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张数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SROCC</c:v>
          </c:tx>
          <c:spPr>
            <a:solidFill xmlns:a="http://schemas.openxmlformats.org/drawingml/2006/main">
              <a:srgbClr val="2776B9"/>
            </a:solidFill>
          </c:spPr>
          <c:cat>
            <c:strRef>
              <c:f>'Chart Data'!$A$2:$A$5</c:f>
              <c:strCache>
                <c:ptCount val="4"/>
                <c:pt idx="0">
                  <c:v>Baseline</c:v>
                </c:pt>
                <c:pt idx="1">
                  <c:v>Ranking</c:v>
                </c:pt>
                <c:pt idx="2">
                  <c:v>Multi-scale</c:v>
                </c:pt>
                <c:pt idx="3">
                  <c:v>Pearson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0.919131</c:v>
                </c:pt>
                <c:pt idx="1">
                  <c:v>0.927379</c:v>
                </c:pt>
                <c:pt idx="2">
                  <c:v>0.923396</c:v>
                </c:pt>
                <c:pt idx="3">
                  <c:v>0.934098</c:v>
                </c:pt>
              </c:numCache>
            </c:numRef>
          </c:val>
        </c:ser>
        <c:ser>
          <c:idx val="1"/>
          <c:order val="1"/>
          <c:tx>
            <c:v>PLCC</c:v>
          </c:tx>
          <c:spPr>
            <a:solidFill xmlns:a="http://schemas.openxmlformats.org/drawingml/2006/main">
              <a:srgbClr val="D68036"/>
            </a:solidFill>
          </c:spPr>
          <c:cat>
            <c:strRef>
              <c:f>'Chart Data'!$C$2:$C$5</c:f>
              <c:strCache>
                <c:ptCount val="4"/>
                <c:pt idx="0">
                  <c:v>Baseline</c:v>
                </c:pt>
                <c:pt idx="1">
                  <c:v>Ranking</c:v>
                </c:pt>
                <c:pt idx="2">
                  <c:v>Multi-scale</c:v>
                </c:pt>
                <c:pt idx="3">
                  <c:v>Pearson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0.937455</c:v>
                </c:pt>
                <c:pt idx="1">
                  <c:v>0.940078</c:v>
                </c:pt>
                <c:pt idx="2">
                  <c:v>0.939839</c:v>
                </c:pt>
                <c:pt idx="3">
                  <c:v>0.945255</c:v>
                </c:pt>
              </c:numCache>
            </c:numRef>
          </c:val>
        </c:ser>
        <c:ser>
          <c:idx val="2"/>
          <c:order val="2"/>
          <c:tx>
            <c:v>Final Score</c:v>
          </c:tx>
          <c:spPr>
            <a:solidFill xmlns:a="http://schemas.openxmlformats.org/drawingml/2006/main">
              <a:srgbClr val="0B8D83"/>
            </a:solidFill>
          </c:spPr>
          <c:cat>
            <c:strRef>
              <c:f>'Chart Data'!$E$2:$E$5</c:f>
              <c:strCache>
                <c:ptCount val="4"/>
                <c:pt idx="0">
                  <c:v>Baseline</c:v>
                </c:pt>
                <c:pt idx="1">
                  <c:v>Ranking</c:v>
                </c:pt>
                <c:pt idx="2">
                  <c:v>Multi-scale</c:v>
                </c:pt>
                <c:pt idx="3">
                  <c:v>Pearson</c:v>
                </c:pt>
              </c:strCache>
            </c:strRef>
          </c:cat>
          <c:val>
            <c:numRef>
              <c:f>'Chart Data'!$F$2:$F$5</c:f>
              <c:numCache>
                <c:formatCode>General</c:formatCode>
                <c:ptCount val="4"/>
                <c:pt idx="0">
                  <c:v>0.928293</c:v>
                </c:pt>
                <c:pt idx="1">
                  <c:v>0.933728</c:v>
                </c:pt>
                <c:pt idx="2">
                  <c:v>0.931617</c:v>
                </c:pt>
                <c:pt idx="3">
                  <c:v>0.939677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96"/>
          <c:min val="0.9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776B9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20260930</c:v>
                </c:pt>
                <c:pt idx="1">
                  <c:v>20261001</c:v>
                </c:pt>
                <c:pt idx="2">
                  <c:v>20261002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0.928293</c:v>
                </c:pt>
                <c:pt idx="1">
                  <c:v>0.92837</c:v>
                </c:pt>
                <c:pt idx="2">
                  <c:v>0.929839</c:v>
                </c:pt>
              </c:numCache>
            </c:numRef>
          </c:val>
        </c:ser>
        <c:ser>
          <c:idx val="1"/>
          <c:order val="1"/>
          <c:tx>
            <c:v>Pearson</c:v>
          </c:tx>
          <c:spPr>
            <a:solidFill xmlns:a="http://schemas.openxmlformats.org/drawingml/2006/main">
              <a:srgbClr val="0B8D83"/>
            </a:solidFill>
          </c:spPr>
          <c:cat>
            <c:numRef>
              <c:f>'Chart Data'!$C$2:$C$4</c:f>
              <c:numCache>
                <c:formatCode>General</c:formatCode>
                <c:ptCount val="3"/>
                <c:pt idx="0">
                  <c:v>20260930</c:v>
                </c:pt>
                <c:pt idx="1">
                  <c:v>20261001</c:v>
                </c:pt>
                <c:pt idx="2">
                  <c:v>20261002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0.939677</c:v>
                </c:pt>
                <c:pt idx="1">
                  <c:v>0.939505</c:v>
                </c:pt>
                <c:pt idx="2">
                  <c:v>0.939627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945"/>
          <c:min val="0.925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0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Group B</c:v>
          </c:tx>
          <c:spPr>
            <a:solidFill xmlns:a="http://schemas.openxmlformats.org/drawingml/2006/main">
              <a:srgbClr val="2776B9"/>
            </a:solidFill>
          </c:spPr>
          <c:cat>
            <c:strRef>
              <c:f>'Chart Data'!$A$2:$A$4</c:f>
              <c:strCache>
                <c:ptCount val="3"/>
                <c:pt idx="0">
                  <c:v>SROCC</c:v>
                </c:pt>
                <c:pt idx="1">
                  <c:v>PLCC</c:v>
                </c:pt>
                <c:pt idx="2">
                  <c:v>Final Score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0.934098</c:v>
                </c:pt>
                <c:pt idx="1">
                  <c:v>0.945255</c:v>
                </c:pt>
                <c:pt idx="2">
                  <c:v>0.939677</c:v>
                </c:pt>
              </c:numCache>
            </c:numRef>
          </c:val>
        </c:ser>
        <c:ser>
          <c:idx val="1"/>
          <c:order val="1"/>
          <c:tx>
            <c:v>Group C</c:v>
          </c:tx>
          <c:spPr>
            <a:solidFill xmlns:a="http://schemas.openxmlformats.org/drawingml/2006/main">
              <a:srgbClr val="0B8D83"/>
            </a:solidFill>
          </c:spPr>
          <c:cat>
            <c:strRef>
              <c:f>'Chart Data'!$C$2:$C$4</c:f>
              <c:strCache>
                <c:ptCount val="3"/>
                <c:pt idx="0">
                  <c:v>SROCC</c:v>
                </c:pt>
                <c:pt idx="1">
                  <c:v>PLCC</c:v>
                </c:pt>
                <c:pt idx="2">
                  <c:v>Final Score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0.936354</c:v>
                </c:pt>
                <c:pt idx="1">
                  <c:v>0.942528</c:v>
                </c:pt>
                <c:pt idx="2">
                  <c:v>0.939441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96"/>
          <c:min val="0.9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SROCC</c:v>
          </c:tx>
          <c:spPr>
            <a:solidFill xmlns:a="http://schemas.openxmlformats.org/drawingml/2006/main">
              <a:srgbClr val="2776B9"/>
            </a:solidFill>
          </c:spPr>
          <c:cat>
            <c:strRef>
              <c:f>'Chart Data'!$A$2:$A$6</c:f>
              <c:strCache>
                <c:ptCount val="5"/>
                <c:pt idx="0">
                  <c:v>原图</c:v>
                </c:pt>
                <c:pt idx="1">
                  <c:v>低曝光</c:v>
                </c:pt>
                <c:pt idx="2">
                  <c:v>模糊</c:v>
                </c:pt>
                <c:pt idx="3">
                  <c:v>JPEG 压缩</c:v>
                </c:pt>
                <c:pt idx="4">
                  <c:v>降分辨率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0.938444</c:v>
                </c:pt>
                <c:pt idx="1">
                  <c:v>0.912821</c:v>
                </c:pt>
                <c:pt idx="2">
                  <c:v>0.687014</c:v>
                </c:pt>
                <c:pt idx="3">
                  <c:v>0.642738</c:v>
                </c:pt>
                <c:pt idx="4">
                  <c:v>0.625739</c:v>
                </c:pt>
              </c:numCache>
            </c:numRef>
          </c:val>
        </c:ser>
        <c:ser>
          <c:idx val="1"/>
          <c:order val="1"/>
          <c:tx>
            <c:v>PLCC</c:v>
          </c:tx>
          <c:spPr>
            <a:solidFill xmlns:a="http://schemas.openxmlformats.org/drawingml/2006/main">
              <a:srgbClr val="D68036"/>
            </a:solidFill>
          </c:spPr>
          <c:cat>
            <c:strRef>
              <c:f>'Chart Data'!$C$2:$C$6</c:f>
              <c:strCache>
                <c:ptCount val="5"/>
                <c:pt idx="0">
                  <c:v>原图</c:v>
                </c:pt>
                <c:pt idx="1">
                  <c:v>低曝光</c:v>
                </c:pt>
                <c:pt idx="2">
                  <c:v>模糊</c:v>
                </c:pt>
                <c:pt idx="3">
                  <c:v>JPEG 压缩</c:v>
                </c:pt>
                <c:pt idx="4">
                  <c:v>降分辨率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0.937751</c:v>
                </c:pt>
                <c:pt idx="1">
                  <c:v>0.907269</c:v>
                </c:pt>
                <c:pt idx="2">
                  <c:v>0.632882</c:v>
                </c:pt>
                <c:pt idx="3">
                  <c:v>0.590578</c:v>
                </c:pt>
                <c:pt idx="4">
                  <c:v>0.548106</c:v>
                </c:pt>
              </c:numCache>
            </c:numRef>
          </c:val>
        </c:ser>
        <c:ser>
          <c:idx val="2"/>
          <c:order val="2"/>
          <c:tx>
            <c:v>Final Score</c:v>
          </c:tx>
          <c:spPr>
            <a:solidFill xmlns:a="http://schemas.openxmlformats.org/drawingml/2006/main">
              <a:srgbClr val="0B8D83"/>
            </a:solidFill>
          </c:spPr>
          <c:cat>
            <c:strRef>
              <c:f>'Chart Data'!$E$2:$E$6</c:f>
              <c:strCache>
                <c:ptCount val="5"/>
                <c:pt idx="0">
                  <c:v>原图</c:v>
                </c:pt>
                <c:pt idx="1">
                  <c:v>低曝光</c:v>
                </c:pt>
                <c:pt idx="2">
                  <c:v>模糊</c:v>
                </c:pt>
                <c:pt idx="3">
                  <c:v>JPEG 压缩</c:v>
                </c:pt>
                <c:pt idx="4">
                  <c:v>降分辨率</c:v>
                </c:pt>
              </c:strCache>
            </c:strRef>
          </c:cat>
          <c:val>
            <c:numRef>
              <c:f>'Chart Data'!$F$2:$F$6</c:f>
              <c:numCache>
                <c:formatCode>General</c:formatCode>
                <c:ptCount val="5"/>
                <c:pt idx="0">
                  <c:v>0.938098</c:v>
                </c:pt>
                <c:pt idx="1">
                  <c:v>0.910045</c:v>
                </c:pt>
                <c:pt idx="2">
                  <c:v>0.659948</c:v>
                </c:pt>
                <c:pt idx="3">
                  <c:v>0.616658</c:v>
                </c:pt>
                <c:pt idx="4">
                  <c:v>0.586922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图片数</c:v>
          </c:tx>
          <c:spPr>
            <a:solidFill xmlns:a="http://schemas.openxmlformats.org/drawingml/2006/main">
              <a:srgbClr val="2776B9"/>
            </a:solidFill>
          </c:spPr>
          <c:cat>
            <c:strRef>
              <c:f>'Chart Data'!$A$2:$A$9</c:f>
              <c:strCache>
                <c:ptCount val="8"/>
                <c:pt idx="0">
                  <c:v>0–.02</c:v>
                </c:pt>
                <c:pt idx="1">
                  <c:v>.02–.04</c:v>
                </c:pt>
                <c:pt idx="2">
                  <c:v>.04–.06</c:v>
                </c:pt>
                <c:pt idx="3">
                  <c:v>.06–.08</c:v>
                </c:pt>
                <c:pt idx="4">
                  <c:v>.08–.10</c:v>
                </c:pt>
                <c:pt idx="5">
                  <c:v>.10–.15</c:v>
                </c:pt>
                <c:pt idx="6">
                  <c:v>.15–.20</c:v>
                </c:pt>
                <c:pt idx="7">
                  <c:v>&gt;.20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4152</c:v>
                </c:pt>
                <c:pt idx="1">
                  <c:v>2611</c:v>
                </c:pt>
                <c:pt idx="2">
                  <c:v>1289</c:v>
                </c:pt>
                <c:pt idx="3">
                  <c:v>532</c:v>
                </c:pt>
                <c:pt idx="4">
                  <c:v>257</c:v>
                </c:pt>
                <c:pt idx="5">
                  <c:v>245</c:v>
                </c:pt>
                <c:pt idx="6">
                  <c:v>101</c:v>
                </c:pt>
                <c:pt idx="7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绝对误差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图片数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65B1EF-03F4-4B9B-9894-6B75B44E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D8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34611-8512-4075-A50A-ED8AF63F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2DC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DCD5"/>
                </a:solidFill>
                <a:latin typeface="Microsoft YaHei"/>
                <a:ea typeface="Microsoft YaHei"/>
                <a:cs typeface="Microsoft YaHei"/>
              </a:rPr>
              <a:t>Track 01 · FIQA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45A15-5DAF-4D81-85F7-5FAF5C1A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6667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轻量级人脸图像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8EE3F-53AB-4A21-AF3D-D3CBFAA6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652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DE7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DE7E4"/>
                </a:solidFill>
                <a:latin typeface="Microsoft YaHei"/>
                <a:ea typeface="Microsoft YaHei"/>
                <a:cs typeface="Microsoft YaHei"/>
              </a:rPr>
              <a:t>MobileNetV3-Small + Pearson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00A4F-FA1A-4DB5-8D79-A277A72A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557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C71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D2086-AABA-42BB-A9EF-3E5B65A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CE6EE"/>
                </a:solidFill>
                <a:latin typeface="Microsoft YaHei"/>
                <a:ea typeface="Microsoft YaHei"/>
                <a:cs typeface="Microsoft YaHei"/>
              </a:rPr>
              <a:t>项目答辩  |  2026-09-30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E2843-241D-46FB-8BE0-4F348304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562100"/>
            <a:ext cx="3086100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7F8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9C0D4-5AAC-4CB0-B65E-079D81FD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28825"/>
            <a:ext cx="1533525" cy="1943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ADD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A2353-879F-40C5-9287-AA0B0DE2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DDD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685F1-F114-4810-95FA-FBBBDE07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05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DD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62051-6452-4593-8D5E-D4272D88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8575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DD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81ADD-92F7-44A4-9CF3-179771A0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76625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DD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00D79-AC13-4C5A-891A-377FEABB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243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7AA1C-9B51-40AD-83BF-E0D6AAA3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2437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1864D-E7B7-4C00-95DE-61AE114B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100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A4F63-722A-4D6B-BCF2-FAEE2AC6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100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E9A2C-85E7-4C6B-B26B-F8BBB3BB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20F6D-43F0-47FA-A792-41A89692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9625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AA709-8B40-4BDE-86C5-D7791150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524375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1A18A-DC79-43FF-B395-8E912001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5243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C3297-6E97-49A7-A382-E5C649E4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5243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D36C7-868E-4DB6-A8BC-92782CE0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4815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87FB2-816B-4EE8-86EA-60F18A8E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481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F91CDF-D500-4842-8FD0-7D038F6C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4815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F761CD-DB7F-4576-865F-091B0B20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72025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7E7411-5294-4ECD-B000-AEA9C5CE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24375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D59212-D6A8-4A7E-82BF-1054258F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243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F74604-570F-4757-9FE5-9007FB03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2437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AC7204-5370-4045-94A8-47C35E5B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910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73AAD-1505-42C1-BF98-8A6BECE7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9102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448A41-BFFE-48B8-9E31-6CA84BCC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39102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63AFA5-522B-4903-A35A-40295B78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5243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C2B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793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33FF3-C4BA-4785-8FB3-55235407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rPPG 前端的图像质量问题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A7203-A0DC-4CCA-BC72-D0B050CA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1DF91-2081-4687-B7A7-E4410560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C568E-86E7-4267-B24B-215AEC73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普通摄像头的人脸视频会带入多种成像退化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423DC-8238-4F8D-BDDA-7D3B2C29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41930-B7D5-432B-8B87-4E90B42E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03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3DDE0-C120-4B14-AB55-DF714D18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71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C2112-4EF6-439F-BF18-94ABCD51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575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低曝光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1DCDF-0F3A-4473-872E-201F46C9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41CF2-3CE9-4E8F-8F19-2442C0E7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D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0056A-CE5B-42F3-97FB-9DBBC094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A2D85-0BDD-430C-A808-03CE4A2F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575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运动 / 失焦模糊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75CFA-B087-457B-98F1-BD5890BE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14625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45FB1-46F7-4AE0-AFD7-8E0E844B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14625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D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9E8C8-74BB-4E73-A246-A1B47797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71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ACF07-9E5A-4C78-9F86-2554396F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压缩伪影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C8815-B740-4DE6-B0ED-48F4239B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4625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D9534-7C18-4C02-B45D-DF219728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714625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D8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ACAD0-CAB1-4369-9B67-124479EF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B8E47-61F6-415F-8B33-AF4B92E5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575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分辨率不足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43D9F-282E-40ED-AE99-826B67D7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FIQA 的任务：先估计画面质量，再研究如何用于后续 rPPG 帧选择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1F8B8-BF3E-4E29-A4CD-7F047A7C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这里提出质量门控用途；本项目尚未实测 rPPG 信号改善。</a:t>
            </a:r>
          </a:p>
        </p:txBody>
      </p:sp>
    </p:spTree>
    <p:extLst>
      <p:ext uri="{BB962C8B-B14F-4D97-AF65-F5344CB8AC3E}">
        <p14:creationId xmlns:p14="http://schemas.microsoft.com/office/powerpoint/2010/main" val="1402882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257800" y="23241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7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DCCCF-8328-4CA1-90CE-8E83EC3E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赛题任务与约束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D2663-6C00-4879-8EE5-6658391F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3AAD4-79F0-4CAF-BD05-B655A8E9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55AC08-0304-48A5-9B5A-53ACF02C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447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FD8D1-9202-44B1-A65F-FF34BAAB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4078"/>
            <a:ext cx="4248150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输入：单张人脸图像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A8A1E-110B-4E3D-B5B5-D71A6FA3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66900"/>
            <a:ext cx="447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EE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65642-33AA-423F-B65A-10816447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44078"/>
            <a:ext cx="4248150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输出：连续质量分数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683DA-1C72-4233-AC4B-4C98E8A1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SROCC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54520-D46E-4050-BAE8-A673771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00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质量高低排序是否一致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B7982-8916-43E4-AF54-EEE328B6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76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76B9"/>
                </a:solidFill>
                <a:latin typeface="Microsoft YaHei"/>
                <a:ea typeface="Microsoft YaHei"/>
                <a:cs typeface="Microsoft YaHei"/>
              </a:rPr>
              <a:t>PLCC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1F5CB-4CB9-41A9-97E3-4ABC7F24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672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预测分数与人工分数是否线性对应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5456F-C134-482D-8820-19A75259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Final Score = (SROCC + PLCC) /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F1E53-0FE8-4F73-89B8-8D473768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部署约束：参数 ≤ 5M；单张 224×224 输入 FLOPs ≤ 500M。</a:t>
            </a:r>
          </a:p>
        </p:txBody>
      </p:sp>
    </p:spTree>
    <p:extLst>
      <p:ext uri="{BB962C8B-B14F-4D97-AF65-F5344CB8AC3E}">
        <p14:creationId xmlns:p14="http://schemas.microsoft.com/office/powerpoint/2010/main" val="1488596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A8B2E-7891-4A0A-BF0C-CBB43A00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数据清洗后保留 27,679 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2D290-CDBC-4E73-8320-0833BD34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8A8FA-2B10-44E4-A099-0048F56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51297-DDBB-43CF-B8D7-91810BB0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27,686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42E09-0856-40C8-8011-1ABBC5F5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145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原始带标签图片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A3B97-40AA-4DAE-950D-8515708E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192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rPr>
              <a:t>− 7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92E7F-6BC3-404E-9FD9-D97F3C7D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145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冲突重复等排除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011FC-3057-47D2-B08C-D467F55B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619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27,679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600AA-BD35-49C9-9009-06083E96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145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最终训练样本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819150" y="3209925"/>
          <a:ext xmlns:a="http://schemas.openxmlformats.org/drawingml/2006/main" cx="10191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7e05b89f774337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1743C-7B83-40D3-B645-1AD3923B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标签分布来自清洗后的真实评分；官方 val 另有 1,000 张无标签图片。</a:t>
            </a:r>
          </a:p>
        </p:txBody>
      </p:sp>
    </p:spTree>
    <p:extLst>
      <p:ext uri="{BB962C8B-B14F-4D97-AF65-F5344CB8AC3E}">
        <p14:creationId xmlns:p14="http://schemas.microsoft.com/office/powerpoint/2010/main" val="1969795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C483B-96CB-4122-BDBC-E9C8948F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A/B/C 的不同用途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12CE1-6E9C-4FF9-B45A-8B969276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588CA-6E87-448A-9A9C-9CFC1B8B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062A9-A6D9-4032-97A5-502EAC4D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6F14C-0400-420F-9976-16FE0B4D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9353"/>
            <a:ext cx="2724150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A  9,226 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F40D8-4AE2-4CDD-A114-15826511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3000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训练候选模型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9D18F-9EF2-47D5-BD0A-3477EE15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CF25D-4599-487F-8F43-EE588628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39353"/>
            <a:ext cx="2724150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B  9,226 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64613-864E-4AE8-8043-947E7A62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81375"/>
            <a:ext cx="3000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开发阶段验证与调整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D16EC-B2B8-47B8-AF93-3B85D475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E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00710-EB28-419D-849A-1C543795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39353"/>
            <a:ext cx="2724150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C  9,227 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246942-1477-4AE4-BFA6-C33E644C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81375"/>
            <a:ext cx="3000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方案锁定后只测试一次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8AB78-0A2D-44DD-929A-B29EFF14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053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最终方案固定后，A+B+C 共同训练 25 轮，得到最终模型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CC997-0D10-4B1B-A65C-E5C20E6B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C 的独立测试先于最终全量训练；不反复用 C 选择模型。</a:t>
            </a:r>
          </a:p>
        </p:txBody>
      </p:sp>
    </p:spTree>
    <p:extLst>
      <p:ext uri="{BB962C8B-B14F-4D97-AF65-F5344CB8AC3E}">
        <p14:creationId xmlns:p14="http://schemas.microsoft.com/office/powerpoint/2010/main" val="1600460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115425" y="3052763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7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1700" y="3052763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7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14625" y="30527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7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AD8AA-90EB-4BC6-B9EF-CC21D181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Candidate P：单尺度 MobileNetV3-Small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1488C-2B42-4A41-8463-ED61BB33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00DDA-30B8-4E1D-AC14-13C26533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1F513-2B20-4C59-AE7C-7B3C0FA3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0478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6B235-917C-4877-A89E-DEF75169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6078"/>
            <a:ext cx="1819275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RGB 输入</a:t>
            </a:r>
          </a:p>
          <a:p xmlns:a="http://schemas.openxmlformats.org/drawingml/2006/main">
            <a:pPr algn="ctr">
              <a:def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224×224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913AD-FE6E-4E55-8EAA-979AE90A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00300"/>
            <a:ext cx="26193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EE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304EC-7A2D-45D2-96C7-D298D3E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06078"/>
            <a:ext cx="2390775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MobileNetV3-Small</a:t>
            </a:r>
          </a:p>
          <a:p xmlns:a="http://schemas.openxmlformats.org/drawingml/2006/main">
            <a:pPr algn="ctr">
              <a:def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卷积特征提取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C5AD5-02F2-4D72-817E-5CE8F0CA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00300"/>
            <a:ext cx="24765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066E4-D2D0-4774-AEEF-F7A4CEB2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906078"/>
            <a:ext cx="2247900" cy="3562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全局池化 + 分类器</a:t>
            </a:r>
          </a:p>
          <a:p xmlns:a="http://schemas.openxmlformats.org/drawingml/2006/main">
            <a:pPr algn="ctr">
              <a:def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1,024 维特征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F8E1-7010-48BF-873A-CE72A7C9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00300"/>
            <a:ext cx="17526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5982F-3CF3-4F32-A62F-DB48CA0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19413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线性回归头</a:t>
            </a:r>
          </a:p>
          <a:p xmlns:a="http://schemas.openxmlformats.org/drawingml/2006/main">
            <a:pPr algn="ctr">
              <a:defRPr sz="150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1 个质量分数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DD1A5-3AF3-4CB1-8F04-32F7AB1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等比缩放 · 灰色填充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7FB69-14BF-4611-802A-2719D94B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10025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ImageNet 官方初始化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287EF-833E-4291-BC9F-008282EA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0100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全图信息压缩为向量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6CFF3-5B0D-49BC-A309-7F29C9F0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1002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连续分数，不做分类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65696-A289-4668-8ED9-56460A4F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106394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346F1C-9C31-48A7-8526-3B1413C6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1149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只用赛事训练集学习质量评分   ·   最终模型不含多尺度或模型集成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2C3197-EB7B-4FCD-9F55-051E0C6C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结构不含多尺度、Ranking Loss 或模型集成；参数 1,518,881。</a:t>
            </a:r>
          </a:p>
        </p:txBody>
      </p:sp>
    </p:spTree>
    <p:extLst>
      <p:ext uri="{BB962C8B-B14F-4D97-AF65-F5344CB8AC3E}">
        <p14:creationId xmlns:p14="http://schemas.microsoft.com/office/powerpoint/2010/main" val="14818915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9011D2-3B1E-4E71-B2B4-3E68D7D4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训练目标：数值接近，也要趋势一致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54666-B94B-41DD-90CE-2500450F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1F377-2698-4A7F-AB51-92F9CF7C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3DD89-0F24-446E-AB7C-3D04235E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954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Loss = SmoothL1 + 0.5 × Pearson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88874-0DC7-4959-9844-09BDAE24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52750"/>
            <a:ext cx="49053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52B99-ADAD-41D8-8DE4-BE8233D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49053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EE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39395-0DA4-44B7-950D-1B8B66A8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33725"/>
            <a:ext cx="4381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SmoothL1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DBF57-AA27-4445-ACDA-0EDE8CD5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24275"/>
            <a:ext cx="43719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每张图：预测与人工评分差多少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E7D8B-643D-42CA-AEC1-7CD8C5DC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457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76B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289312-316F-453C-B252-FEC6132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577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803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14119-3120-4AAB-88D4-DBBE5EDF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24375"/>
            <a:ext cx="181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4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D5612-6A91-4DF3-B9A7-F95C6B42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79107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776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76B9"/>
                </a:solidFill>
                <a:latin typeface="Microsoft YaHei"/>
                <a:ea typeface="Microsoft YaHei"/>
                <a:cs typeface="Microsoft YaHei"/>
              </a:rPr>
              <a:t>人工评分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A3326-8710-4A59-B9A7-D130FD59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9107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rPr>
              <a:t>模型预测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9F9B04-14AC-4D7B-AD03-8FCC4C0C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133725"/>
            <a:ext cx="4362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Pearson 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E91C7-0D05-47E5-97ED-6A8997FD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24275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一批图：高低变化是否同向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CCED5-E96D-424F-8FB9-972AF117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D525B-0603-493F-B18C-09627533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4342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1DB41-DCFB-4F9D-86E9-5A508DE9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43425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3EEFC-FE59-40B2-9482-7E663840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543425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06F10-B34E-45D8-8F11-5FAAE8DB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19625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29285-B026-4319-AB2F-70264E4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2481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49FF4-F32F-456E-A2EF-00E49790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24815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80C9E-6D61-4389-BFF5-BF83068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0862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8F20D-FA60-4B44-B860-FE8FAE06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76B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99006-B0F3-470D-AAB3-92E6FC15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7053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76B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0CF80B-7262-4BE1-A3B3-DC8442FB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70535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76B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4FD79-BD1F-48E3-802F-3772D8B5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05350"/>
            <a:ext cx="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76B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0314C8-5E96-44D6-A2D6-24D9A746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72025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76B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909D51-3EB5-401F-8E84-5E2A4090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100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76B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EE43B0-4D35-41A8-8370-245ED2D5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100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76B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158A2D-922C-4A6C-831F-86B49126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2386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776B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B4245E-FDFA-4281-BA14-9073BE2D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Pearson 权重 0.5；该组合来自 PHASE 3 单因素实验，不再调整。</a:t>
            </a:r>
          </a:p>
        </p:txBody>
      </p:sp>
    </p:spTree>
    <p:extLst>
      <p:ext uri="{BB962C8B-B14F-4D97-AF65-F5344CB8AC3E}">
        <p14:creationId xmlns:p14="http://schemas.microsoft.com/office/powerpoint/2010/main" val="9545980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A34CA-2753-466F-915F-67D4F6F9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Pearson 方案取得最高的 B 组综合分数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1C9F2-4415-4883-83D6-8169D143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5CF8D-D9F3-46AF-8899-C32B450B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38200" y="1666875"/>
          <a:ext xmlns:a="http://schemas.openxmlformats.org/drawingml/2006/main" cx="1038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559d6ac4ff408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70334-3757-4D6B-9B5A-BF2E4ECB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相同 A/B、相同种子；纵轴从 0.90 起以便看清差异。Pearson Final Score 0.939677。</a:t>
            </a:r>
          </a:p>
        </p:txBody>
      </p:sp>
    </p:spTree>
    <p:extLst>
      <p:ext uri="{BB962C8B-B14F-4D97-AF65-F5344CB8AC3E}">
        <p14:creationId xmlns:p14="http://schemas.microsoft.com/office/powerpoint/2010/main" val="14318127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A6E17-4C1F-4049-9070-6CFCB3A7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三次种子复核：Pearson 结果波动较小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19ECF-4FC4-4A4D-90AE-58F6D95D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A0E17-4B4F-40F5-A80C-4D00FB1F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10287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74c86a8231465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463FE-0D34-42ED-9B2E-AE44F811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776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776B9"/>
                </a:solidFill>
                <a:latin typeface="Microsoft YaHei"/>
                <a:ea typeface="Microsoft YaHei"/>
                <a:cs typeface="Microsoft YaHei"/>
              </a:rPr>
              <a:t>Baseline  0.928834 ± 0.000871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8FB8D-C513-498A-9915-0CAD2D97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Pearson  0.939603 ± 0.000088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12EB6-029D-43B5-8AA1-B0DB30F7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纵轴从 0.925 起；三种子显示当前划分下的稳定性，不保证未知来源。</a:t>
            </a:r>
          </a:p>
        </p:txBody>
      </p:sp>
    </p:spTree>
    <p:extLst>
      <p:ext uri="{BB962C8B-B14F-4D97-AF65-F5344CB8AC3E}">
        <p14:creationId xmlns:p14="http://schemas.microsoft.com/office/powerpoint/2010/main" val="8479832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BB6AD-B5B9-400B-A830-B2704841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独立 Group C 与 Group B 表现接近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3A7A3-4DE0-4354-8C4B-5B3E3114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D48F8-2C58-48E5-ABA9-BCB0ED70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66775" y="1762125"/>
          <a:ext xmlns:a="http://schemas.openxmlformats.org/drawingml/2006/main" cx="10287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af80bd652a4a8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02BA2-0B2B-433A-BC29-7C869DDF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C 仅对锁定的 A 训练 checkpoint 测试一次；纵轴从 0.90 起。官方 val 无标签。</a:t>
            </a:r>
          </a:p>
        </p:txBody>
      </p:sp>
    </p:spTree>
    <p:extLst>
      <p:ext uri="{BB962C8B-B14F-4D97-AF65-F5344CB8AC3E}">
        <p14:creationId xmlns:p14="http://schemas.microsoft.com/office/powerpoint/2010/main" val="16026568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ADEAA-8736-4CCA-A6D6-AC7D27EE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合成退化下的固定 B 组诊断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A033A-98D1-45BE-AA24-44B62E56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648E7-4E27-46CF-AC4A-9B7189AC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47725" y="1695450"/>
          <a:ext xmlns:a="http://schemas.openxmlformats.org/drawingml/2006/main" cx="103822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f03a28bfb848b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1C0F9-D610-4BB1-A04F-095A664C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38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rPr>
              <a:t>低曝光平均预测反而 +0.044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B83C1-55E6-418C-9C6F-B6CCAB1A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438775"/>
            <a:ext cx="537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全部相关系数均以原图标签计算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5FFAF-A1FD-4698-94A4-F2275394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退化图未经重新人工评分；这是 B 开发集诊断，不能解释为退化后准确率。</a:t>
            </a:r>
          </a:p>
        </p:txBody>
      </p:sp>
    </p:spTree>
    <p:extLst>
      <p:ext uri="{BB962C8B-B14F-4D97-AF65-F5344CB8AC3E}">
        <p14:creationId xmlns:p14="http://schemas.microsoft.com/office/powerpoint/2010/main" val="1381109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17133-3D1B-497F-A14C-6FD7E1D1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Group C 单张绝对误差分布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73E8B-0BA9-494D-BFE3-05833642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85054-0FF7-428D-AE70-BCECD6C5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1047750" y="1666875"/>
          <a:ext xmlns:a="http://schemas.openxmlformats.org/drawingml/2006/main" cx="9810750" cy="4029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3c90b7806f41d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7EBA0-2569-429A-9193-E6502F11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依据一次 Group C 测试的 9,227 张逐图记录；MAE 0.031889。不是最终全量模型的官方 val 误差。</a:t>
            </a:r>
          </a:p>
        </p:txBody>
      </p:sp>
    </p:spTree>
    <p:extLst>
      <p:ext uri="{BB962C8B-B14F-4D97-AF65-F5344CB8AC3E}">
        <p14:creationId xmlns:p14="http://schemas.microsoft.com/office/powerpoint/2010/main" val="9176421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A9BDF0-BD86-4CFD-A90C-FFFF7508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轻量化约束均通过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96C0E-FAC3-4C71-BDCB-92FCFD1D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F5841-F3FB-4295-8C18-4E55C032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BFD44-40DE-49B8-8406-6D3D3861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参数量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C856B-0453-40DA-8E3D-66F1ACCB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1.519M / 5M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0E907-EDBD-4BCD-B1BC-1ADDD7DA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76500"/>
            <a:ext cx="10382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80AC3-3D28-45B5-BDA8-94103592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76500"/>
            <a:ext cx="315388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D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34A95-F8E1-46DF-A5B5-13A35627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保守 FLOPs 上界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97780-C70F-4E7E-AF56-B45F4DA8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575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81.43M / 500M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9DF57-201B-4F17-B1EA-21820086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95750"/>
            <a:ext cx="103822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34181-B7A3-49E6-B3FE-ADF7114C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95750"/>
            <a:ext cx="1690832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6B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A08C8-1070-4723-8EEE-101A7D42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285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7D6F8-9A2C-4045-A5E1-D82643B2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单张 1×3×224×224 输入；fvcore 原始计数 58.63M FLOPs。</a:t>
            </a:r>
          </a:p>
        </p:txBody>
      </p:sp>
    </p:spTree>
    <p:extLst>
      <p:ext uri="{BB962C8B-B14F-4D97-AF65-F5344CB8AC3E}">
        <p14:creationId xmlns:p14="http://schemas.microsoft.com/office/powerpoint/2010/main" val="3883756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305675" y="2571750"/>
            <a:ext cx="1514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7"/>
            </a:solidFill>
            <a:prstDash val="solid"/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14700" y="2571750"/>
            <a:ext cx="1514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7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13D57-D251-4E3D-AE12-3CC7B125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拟用于摄像头到 rPPG 的质量门控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775DB-C60D-49B5-AC27-987FD96C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2E517-876B-4F93-BB2F-468BC842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1FE31-535F-4FE2-9A99-552A8514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DCB44-99FD-4F93-89E7-C480A53C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98395"/>
            <a:ext cx="224790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摄像头图像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064A4-209C-44C3-9F3F-88A29B41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383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EE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14C9E-B095-4A60-9CB0-0AFC1FA8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398395"/>
            <a:ext cx="224790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FIQA 质量分数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3ECDB-405B-44FA-AB1B-2FDB7300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23E5C-2D5F-4D1B-82D5-A61CC5FE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1173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保留或降低权重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D74C6-775B-4EDE-8AF5-75DD847B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90975"/>
            <a:ext cx="10429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候选用途：优先使用质量较好的帧，降低低质量帧对后续信号的影响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A4AEC-2FEF-4F89-9182-779436C5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尚未测量真实 rPPG 心率误差或移动端时延，部署效果属于待验证方向。</a:t>
            </a:r>
          </a:p>
        </p:txBody>
      </p:sp>
    </p:spTree>
    <p:extLst>
      <p:ext uri="{BB962C8B-B14F-4D97-AF65-F5344CB8AC3E}">
        <p14:creationId xmlns:p14="http://schemas.microsoft.com/office/powerpoint/2010/main" val="11241530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6719B5-244F-4405-B3AC-296E19D0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局限性与下一步验证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88084-EDC9-4897-AFA3-40605610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B97EF-BCA0-4B60-A46F-C8DCB5EB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210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D3037-8D25-456F-8463-D9E46DDB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478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当前限制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288A8-0EE4-44E0-A943-F333A92C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4782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对应的验证方向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7D3F0-88FD-46A0-A3FE-A0185E12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EE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F3B0A-10CC-4D19-8C5F-2C471A6F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71725"/>
            <a:ext cx="57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14596-CDD9-45DC-A122-8CC8CEDE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764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无身份 / 来源字段，可能同人跨组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497A2-5250-4262-A192-13C97A38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5717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D8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8175E-AA05-4F5E-9F75-6195EB4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76475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取得身份信息后重做分组检验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637DC-5A7C-4252-B39E-EFD506FD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EE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9017F-E81D-4774-98C1-8AA17269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57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3737E-565E-43DA-94BF-0F841CA7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432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数据规模有限，人工评分有主观性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A9ED6-4BF7-4D9E-93FF-87BA284D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385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D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9397A-E3A1-47D4-AF63-A98934AE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43250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扩展设备与人群，并复核评分一致性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5D74E-38C5-4FB2-BD50-ABAC6620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EE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EED34-5E44-476A-9DDD-C16083F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05275"/>
            <a:ext cx="57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4DBCB-5B46-4CF1-9DAE-C370F76C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100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仅判断单帧，没有真实 rPPG 标签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2B3AB-B94E-409B-A366-D963FAA4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305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D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E7788-8968-418B-A4CC-9CCEA021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10025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研究时序质量和信号质量联合验证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0896E-3AE2-461E-BC55-579BF3BB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EE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7A16E-C7C7-4637-8403-3026D8BB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72050"/>
            <a:ext cx="57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6803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BCCC-F6D8-4EF5-AF0C-116DB8D2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233B"/>
                </a:solidFill>
                <a:latin typeface="Microsoft YaHei"/>
                <a:ea typeface="Microsoft YaHei"/>
                <a:cs typeface="Microsoft YaHei"/>
              </a:rPr>
              <a:t>未测试移动端时延及设备差异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DB506-C1D4-4ED4-9B13-427D4B6F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1720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8D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FF8245-E4BA-4766-B1F9-55A7D1B3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76800"/>
            <a:ext cx="4714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8D83"/>
                </a:solidFill>
                <a:latin typeface="Microsoft YaHei"/>
                <a:ea typeface="Microsoft YaHei"/>
                <a:cs typeface="Microsoft YaHei"/>
              </a:rPr>
              <a:t>量化模型，在真实设备测吞吐与误差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4EFF4-7981-468F-877C-24EC3768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7"/>
                </a:solidFill>
                <a:latin typeface="Microsoft YaHei"/>
                <a:ea typeface="Microsoft YaHei"/>
                <a:cs typeface="Microsoft YaHei"/>
              </a:rPr>
              <a:t>官方 val 无标签，不能报告 SROCC / PLCC / Final Score；后续方向尚未计入比赛结果。</a:t>
            </a:r>
          </a:p>
        </p:txBody>
      </p:sp>
    </p:spTree>
    <p:extLst>
      <p:ext uri="{BB962C8B-B14F-4D97-AF65-F5344CB8AC3E}">
        <p14:creationId xmlns:p14="http://schemas.microsoft.com/office/powerpoint/2010/main" val="3222337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E81CB-4D10-47E6-B9D5-951C4259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334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结论：在轻量化约束内完成本地验证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E20AE-2923-4702-94D6-A3F303AC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57350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8D8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B0C4D-999B-4FC8-A316-8856E60E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14600"/>
            <a:ext cx="3295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890C5-17DD-4A44-B86A-F663CB20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1460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03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395DB-1A4D-4A25-80A5-90CEE10E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05125"/>
            <a:ext cx="2876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0A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F0A760"/>
                </a:solidFill>
                <a:latin typeface="Microsoft YaHei"/>
                <a:ea typeface="Microsoft YaHei"/>
                <a:cs typeface="Microsoft YaHei"/>
              </a:rPr>
              <a:t>0.939441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4AD4A-6F98-4465-A0BE-6059261B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814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训练锁定模型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 Group C 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BE5CC-7092-4A99-8143-09E61905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14600"/>
            <a:ext cx="3295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A4D25-9EB0-4FE5-B0D4-3BE90BD9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1460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D8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615FE-6149-4E6E-B616-DBCB96FA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05125"/>
            <a:ext cx="2876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91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91DDD4"/>
                </a:solidFill>
                <a:latin typeface="Microsoft YaHei"/>
                <a:ea typeface="Microsoft YaHei"/>
                <a:cs typeface="Microsoft YaHei"/>
              </a:rPr>
              <a:t>1.519M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B7988-948F-42D9-ABD2-8DD0EBC8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814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最终模型参数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≤ 5M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517D4-5E76-4EB8-BAA6-A451363F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14600"/>
            <a:ext cx="32956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7A5FF-8561-47C5-A349-BE66795B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1460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D8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7584E-15C7-4409-A677-8D34DF8E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05125"/>
            <a:ext cx="2876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91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91DDD4"/>
                </a:solidFill>
                <a:latin typeface="Microsoft YaHei"/>
                <a:ea typeface="Microsoft YaHei"/>
                <a:cs typeface="Microsoft YaHei"/>
              </a:rPr>
              <a:t>81.43M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A52B8-7137-4929-A248-A1A07D43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8142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保守 FLOPs 上界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≤ 500M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8DF37-BD76-4985-B908-531F0B7A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106965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CE6EE"/>
                </a:solidFill>
                <a:latin typeface="Microsoft YaHei"/>
                <a:ea typeface="Microsoft YaHei"/>
                <a:cs typeface="Microsoft YaHei"/>
              </a:rPr>
              <a:t>最终全量模型使用清洗后 27,679 张图片，并已输出 1,000 个官方 val 分数。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E855F-42E8-458C-957D-63011EFE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00725"/>
            <a:ext cx="1069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FC6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FC6D1"/>
                </a:solidFill>
                <a:latin typeface="Microsoft YaHei"/>
                <a:ea typeface="Microsoft YaHei"/>
                <a:cs typeface="Microsoft YaHei"/>
              </a:rPr>
              <a:t>官方 val 没有公开标签；这里不宣称最终模型的官方得分或 rPPG 收益。</a:t>
            </a:r>
          </a:p>
        </p:txBody>
      </p:sp>
    </p:spTree>
    <p:extLst>
      <p:ext uri="{BB962C8B-B14F-4D97-AF65-F5344CB8AC3E}">
        <p14:creationId xmlns:p14="http://schemas.microsoft.com/office/powerpoint/2010/main" val="583799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2026-09-30T12:30:05.0890000Z</dcterms:created>
  <dcterms:modified xsi:type="dcterms:W3CDTF">2026-09-30T12:30:05.0890000Z</dcterms:modified>
</coreProperties>
</file>